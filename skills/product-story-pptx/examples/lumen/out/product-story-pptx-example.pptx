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开场只说一句话。停两秒再翻页。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这是第一个低谷。语速放慢。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章节页停留 1 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结尾停在高点。不要放「谢谢」页。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ST_IMAGE" descr="crop_5666991460396983981_hero-work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ST_SCRIM" descr="scrim_gradient_0506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ST_TEXT"/>
          <p:cNvSpPr txBox="1"/>
          <p:nvPr/>
        </p:nvSpPr>
        <p:spPr>
          <a:xfrm>
            <a:off x="822960" y="3470910"/>
            <a:ext cx="7863840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LUMEN</a:t>
            </a:r>
          </a:p>
        </p:txBody>
      </p:sp>
      <p:sp>
        <p:nvSpPr>
          <p:cNvPr id="5" name="PST_TEXT"/>
          <p:cNvSpPr txBox="1"/>
          <p:nvPr/>
        </p:nvSpPr>
        <p:spPr>
          <a:xfrm>
            <a:off x="822960" y="3847338"/>
            <a:ext cx="7863840" cy="16687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Inter"/>
                <a:ea typeface="Noto Sans CJK SC"/>
              </a:rPr>
              <a:t>让团队的知识，三秒内被找到</a:t>
            </a:r>
          </a:p>
        </p:txBody>
      </p:sp>
      <p:sp>
        <p:nvSpPr>
          <p:cNvPr id="6" name="PST_TEXT"/>
          <p:cNvSpPr txBox="1"/>
          <p:nvPr/>
        </p:nvSpPr>
        <p:spPr>
          <a:xfrm>
            <a:off x="822960" y="5772150"/>
            <a:ext cx="7863840" cy="35432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3D3D3"/>
                </a:solidFill>
                <a:latin typeface="Inter"/>
                <a:ea typeface="Noto Sans CJK SC"/>
              </a:rPr>
              <a:t>产品介绍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1463040" y="2785999"/>
            <a:ext cx="9235440" cy="6756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4F3EF"/>
                </a:solidFill>
                <a:latin typeface="Inter"/>
                <a:ea typeface="Noto Sans CJK SC"/>
              </a:rPr>
              <a:t>知识没有丢，只是没人找得到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1463040" y="3717671"/>
            <a:ext cx="9235440" cy="35432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4F3EF"/>
                </a:solidFill>
                <a:latin typeface="Inter"/>
                <a:ea typeface="Noto Sans CJK SC"/>
              </a:rPr>
              <a:t>文档在飞书、代码在 GitHub、决定在群聊里。每个人都在重新找一遍别人已经找到的东西。</a:t>
            </a:r>
          </a:p>
        </p:txBody>
      </p:sp>
      <p:sp>
        <p:nvSpPr>
          <p:cNvPr id="4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5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731520" y="640080"/>
            <a:ext cx="10728655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现状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731520" y="979931"/>
            <a:ext cx="10728655" cy="55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员工每周花 5.2 小时找信息（示例数据）</a:t>
            </a:r>
          </a:p>
        </p:txBody>
      </p:sp>
      <p:pic>
        <p:nvPicPr>
          <p:cNvPr id="4" name="PST_CHART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10728655" cy="4023359"/>
          </a:xfrm>
          <a:prstGeom prst="rect">
            <a:avLst/>
          </a:prstGeom>
        </p:spPr>
      </p:pic>
      <p:sp>
        <p:nvSpPr>
          <p:cNvPr id="5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6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822960" y="2919476"/>
            <a:ext cx="10515600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0E0F12"/>
                </a:solidFill>
                <a:latin typeface="Inter"/>
                <a:ea typeface="Noto Sans CJK SC"/>
              </a:rPr>
              <a:t>02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822960" y="3295904"/>
            <a:ext cx="10515600" cy="7340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E0F12"/>
                </a:solidFill>
                <a:latin typeface="Inter"/>
                <a:ea typeface="Noto Sans CJK SC"/>
              </a:rPr>
              <a:t>换一种找法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297680"/>
            <a:ext cx="1097280" cy="54864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UI_MOCK_SHELL::s05"/>
          <p:cNvSpPr/>
          <p:nvPr/>
        </p:nvSpPr>
        <p:spPr>
          <a:xfrm>
            <a:off x="6096304" y="0"/>
            <a:ext cx="6095390" cy="6858000"/>
          </a:xfrm>
          <a:prstGeom prst="roundRect">
            <a:avLst>
              <a:gd name="adj" fmla="val 2700"/>
            </a:avLst>
          </a:prstGeom>
          <a:solidFill>
            <a:srgbClr val="0E0F12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ST_UI_MOCK_TOPBAR::s05"/>
          <p:cNvSpPr/>
          <p:nvPr/>
        </p:nvSpPr>
        <p:spPr>
          <a:xfrm>
            <a:off x="6114592" y="18288"/>
            <a:ext cx="6058814" cy="438912"/>
          </a:xfrm>
          <a:prstGeom prst="roundRect">
            <a:avLst>
              <a:gd name="adj" fmla="val 12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ST_UI_MOCK_TOPBAR_JOIN::s05"/>
          <p:cNvSpPr/>
          <p:nvPr/>
        </p:nvSpPr>
        <p:spPr>
          <a:xfrm>
            <a:off x="6114592" y="246888"/>
            <a:ext cx="6058814" cy="210311"/>
          </a:xfrm>
          <a:prstGeom prst="rect">
            <a:avLst/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PST_UI_MOCK_DIVIDER::s05"/>
          <p:cNvCxnSpPr/>
          <p:nvPr/>
        </p:nvCxnSpPr>
        <p:spPr>
          <a:xfrm>
            <a:off x="6114592" y="457200"/>
            <a:ext cx="6058815" cy="0"/>
          </a:xfrm>
          <a:prstGeom prst="line">
            <a:avLst/>
          </a:prstGeom>
          <a:ln w="10160">
            <a:solidFill>
              <a:srgbClr val="2B2F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ST_UI_MOCK_DOT_1::s05"/>
          <p:cNvSpPr/>
          <p:nvPr/>
        </p:nvSpPr>
        <p:spPr>
          <a:xfrm>
            <a:off x="6251752" y="164592"/>
            <a:ext cx="68580" cy="68580"/>
          </a:xfrm>
          <a:prstGeom prst="ellipse">
            <a:avLst/>
          </a:prstGeom>
          <a:solidFill>
            <a:srgbClr val="E66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ST_UI_MOCK_DOT_2::s05"/>
          <p:cNvSpPr/>
          <p:nvPr/>
        </p:nvSpPr>
        <p:spPr>
          <a:xfrm>
            <a:off x="6416344" y="164592"/>
            <a:ext cx="68580" cy="68580"/>
          </a:xfrm>
          <a:prstGeom prst="ellipse">
            <a:avLst/>
          </a:prstGeom>
          <a:solidFill>
            <a:srgbClr val="F3B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ST_UI_MOCK_DOT_3::s05"/>
          <p:cNvSpPr/>
          <p:nvPr/>
        </p:nvSpPr>
        <p:spPr>
          <a:xfrm>
            <a:off x="6580936" y="164592"/>
            <a:ext cx="68580" cy="68580"/>
          </a:xfrm>
          <a:prstGeom prst="ellipse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ST_UI_MOCK_TITLE::s05"/>
          <p:cNvSpPr txBox="1"/>
          <p:nvPr/>
        </p:nvSpPr>
        <p:spPr>
          <a:xfrm>
            <a:off x="6736384" y="73152"/>
            <a:ext cx="440375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3EF"/>
                </a:solidFill>
                <a:latin typeface="Inter"/>
                <a:ea typeface="Noto Sans CJK SC"/>
              </a:rPr>
              <a:t>Lumen 知识助手</a:t>
            </a:r>
          </a:p>
        </p:txBody>
      </p:sp>
      <p:sp>
        <p:nvSpPr>
          <p:cNvPr id="10" name="PST_UI_MOCK_BADGE::s05"/>
          <p:cNvSpPr/>
          <p:nvPr/>
        </p:nvSpPr>
        <p:spPr>
          <a:xfrm>
            <a:off x="11249863" y="73152"/>
            <a:ext cx="768096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ST_UI_MOCK_BADGE_TEXT::s05"/>
          <p:cNvSpPr txBox="1"/>
          <p:nvPr/>
        </p:nvSpPr>
        <p:spPr>
          <a:xfrm>
            <a:off x="11268151" y="73152"/>
            <a:ext cx="73152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DA1AB"/>
                </a:solidFill>
                <a:latin typeface="Inter"/>
                <a:ea typeface="Noto Sans CJK SC"/>
              </a:rPr>
              <a:t>界面示意</a:t>
            </a:r>
          </a:p>
        </p:txBody>
      </p:sp>
      <p:sp>
        <p:nvSpPr>
          <p:cNvPr id="12" name="PST_UI_MOCK_SIDEBAR::s05"/>
          <p:cNvSpPr/>
          <p:nvPr/>
        </p:nvSpPr>
        <p:spPr>
          <a:xfrm>
            <a:off x="6260896" y="585216"/>
            <a:ext cx="1188720" cy="6108192"/>
          </a:xfrm>
          <a:prstGeom prst="roundRect">
            <a:avLst>
              <a:gd name="adj" fmla="val 7692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ST_UI_MOCK_SIDEBAR_ITEM_1::s05"/>
          <p:cNvSpPr txBox="1"/>
          <p:nvPr/>
        </p:nvSpPr>
        <p:spPr>
          <a:xfrm>
            <a:off x="6352336" y="768096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Inter"/>
                <a:ea typeface="Noto Sans CJK SC"/>
              </a:rPr>
              <a:t>问答</a:t>
            </a:r>
          </a:p>
        </p:txBody>
      </p:sp>
      <p:sp>
        <p:nvSpPr>
          <p:cNvPr id="14" name="PST_UI_MOCK_SIDEBAR_ITEM_2::s05"/>
          <p:cNvSpPr txBox="1"/>
          <p:nvPr/>
        </p:nvSpPr>
        <p:spPr>
          <a:xfrm>
            <a:off x="6352336" y="1243584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A1AB"/>
                </a:solidFill>
                <a:latin typeface="Inter"/>
                <a:ea typeface="Noto Sans CJK SC"/>
              </a:rPr>
              <a:t>知识库</a:t>
            </a:r>
          </a:p>
        </p:txBody>
      </p:sp>
      <p:sp>
        <p:nvSpPr>
          <p:cNvPr id="15" name="PST_UI_MOCK_SIDEBAR_ITEM_3::s05"/>
          <p:cNvSpPr txBox="1"/>
          <p:nvPr/>
        </p:nvSpPr>
        <p:spPr>
          <a:xfrm>
            <a:off x="6352336" y="1719072"/>
            <a:ext cx="10058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A1AB"/>
                </a:solidFill>
                <a:latin typeface="Inter"/>
                <a:ea typeface="Noto Sans CJK SC"/>
              </a:rPr>
              <a:t>数据源</a:t>
            </a:r>
          </a:p>
        </p:txBody>
      </p:sp>
      <p:sp>
        <p:nvSpPr>
          <p:cNvPr id="16" name="PST_UI_MOCK_HEADLINE::s05"/>
          <p:cNvSpPr txBox="1"/>
          <p:nvPr/>
        </p:nvSpPr>
        <p:spPr>
          <a:xfrm>
            <a:off x="7650784" y="585216"/>
            <a:ext cx="4376318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3EF"/>
                </a:solidFill>
                <a:latin typeface="Inter"/>
                <a:ea typeface="Noto Sans CJK SC"/>
              </a:rPr>
              <a:t>权限内的知识，一问即达</a:t>
            </a:r>
          </a:p>
        </p:txBody>
      </p:sp>
      <p:sp>
        <p:nvSpPr>
          <p:cNvPr id="17" name="PST_UI_MOCK_SUBHEAD::s05"/>
          <p:cNvSpPr txBox="1"/>
          <p:nvPr/>
        </p:nvSpPr>
        <p:spPr>
          <a:xfrm>
            <a:off x="7650784" y="914400"/>
            <a:ext cx="437631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DA1AB"/>
                </a:solidFill>
                <a:latin typeface="Inter"/>
                <a:ea typeface="Noto Sans CJK SC"/>
              </a:rPr>
              <a:t>回答附原文位置与更新时间</a:t>
            </a:r>
          </a:p>
        </p:txBody>
      </p:sp>
      <p:sp>
        <p:nvSpPr>
          <p:cNvPr id="18" name="PST_UI_MOCK_KPI_1::s05"/>
          <p:cNvSpPr/>
          <p:nvPr/>
        </p:nvSpPr>
        <p:spPr>
          <a:xfrm>
            <a:off x="7650784" y="1243584"/>
            <a:ext cx="1361236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ST_UI_MOCK_KPI_LABEL_1::s05"/>
          <p:cNvSpPr txBox="1"/>
          <p:nvPr/>
        </p:nvSpPr>
        <p:spPr>
          <a:xfrm>
            <a:off x="7742224" y="1316736"/>
            <a:ext cx="1178356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DA1AB"/>
                </a:solidFill>
                <a:latin typeface="Inter"/>
                <a:ea typeface="Noto Sans CJK SC"/>
              </a:rPr>
              <a:t>已接入数据源</a:t>
            </a:r>
          </a:p>
        </p:txBody>
      </p:sp>
      <p:sp>
        <p:nvSpPr>
          <p:cNvPr id="20" name="PST_UI_MOCK_KPI_VALUE_1::s05"/>
          <p:cNvSpPr txBox="1"/>
          <p:nvPr/>
        </p:nvSpPr>
        <p:spPr>
          <a:xfrm>
            <a:off x="7742224" y="1554480"/>
            <a:ext cx="1178356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3EF"/>
                </a:solidFill>
                <a:latin typeface="Inter"/>
                <a:ea typeface="Noto Sans CJK SC"/>
              </a:rPr>
              <a:t>12</a:t>
            </a:r>
          </a:p>
        </p:txBody>
      </p:sp>
      <p:sp>
        <p:nvSpPr>
          <p:cNvPr id="21" name="PST_UI_MOCK_KPI_2::s05"/>
          <p:cNvSpPr/>
          <p:nvPr/>
        </p:nvSpPr>
        <p:spPr>
          <a:xfrm>
            <a:off x="9158325" y="1243584"/>
            <a:ext cx="1361236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ST_UI_MOCK_KPI_LABEL_2::s05"/>
          <p:cNvSpPr txBox="1"/>
          <p:nvPr/>
        </p:nvSpPr>
        <p:spPr>
          <a:xfrm>
            <a:off x="9249765" y="1316736"/>
            <a:ext cx="1178356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DA1AB"/>
                </a:solidFill>
                <a:latin typeface="Inter"/>
                <a:ea typeface="Noto Sans CJK SC"/>
              </a:rPr>
              <a:t>平均响应</a:t>
            </a:r>
          </a:p>
        </p:txBody>
      </p:sp>
      <p:sp>
        <p:nvSpPr>
          <p:cNvPr id="23" name="PST_UI_MOCK_KPI_VALUE_2::s05"/>
          <p:cNvSpPr txBox="1"/>
          <p:nvPr/>
        </p:nvSpPr>
        <p:spPr>
          <a:xfrm>
            <a:off x="9249765" y="1554480"/>
            <a:ext cx="1178356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3EF"/>
                </a:solidFill>
                <a:latin typeface="Inter"/>
                <a:ea typeface="Noto Sans CJK SC"/>
              </a:rPr>
              <a:t>3.2s</a:t>
            </a:r>
          </a:p>
        </p:txBody>
      </p:sp>
      <p:sp>
        <p:nvSpPr>
          <p:cNvPr id="24" name="PST_UI_MOCK_KPI_3::s05"/>
          <p:cNvSpPr/>
          <p:nvPr/>
        </p:nvSpPr>
        <p:spPr>
          <a:xfrm>
            <a:off x="10665866" y="1243584"/>
            <a:ext cx="1361236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ST_UI_MOCK_KPI_LABEL_3::s05"/>
          <p:cNvSpPr txBox="1"/>
          <p:nvPr/>
        </p:nvSpPr>
        <p:spPr>
          <a:xfrm>
            <a:off x="10757306" y="1316736"/>
            <a:ext cx="1178356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DA1AB"/>
                </a:solidFill>
                <a:latin typeface="Inter"/>
                <a:ea typeface="Noto Sans CJK SC"/>
              </a:rPr>
              <a:t>引用覆盖</a:t>
            </a:r>
          </a:p>
        </p:txBody>
      </p:sp>
      <p:sp>
        <p:nvSpPr>
          <p:cNvPr id="26" name="PST_UI_MOCK_KPI_VALUE_3::s05"/>
          <p:cNvSpPr txBox="1"/>
          <p:nvPr/>
        </p:nvSpPr>
        <p:spPr>
          <a:xfrm>
            <a:off x="10757306" y="1554480"/>
            <a:ext cx="1178356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F3EF"/>
                </a:solidFill>
                <a:latin typeface="Inter"/>
                <a:ea typeface="Noto Sans CJK SC"/>
              </a:rPr>
              <a:t>96%</a:t>
            </a:r>
          </a:p>
        </p:txBody>
      </p:sp>
      <p:sp>
        <p:nvSpPr>
          <p:cNvPr id="27" name="PST_UI_MOCK_ROW_1::s05"/>
          <p:cNvSpPr/>
          <p:nvPr/>
        </p:nvSpPr>
        <p:spPr>
          <a:xfrm>
            <a:off x="7650784" y="2121408"/>
            <a:ext cx="4376318" cy="658368"/>
          </a:xfrm>
          <a:prstGeom prst="roundRect">
            <a:avLst>
              <a:gd name="adj" fmla="val 11111"/>
            </a:avLst>
          </a:prstGeom>
          <a:solidFill>
            <a:srgbClr val="FF5A36"/>
          </a:solidFill>
          <a:ln w="1270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ST_UI_MOCK_ROW_LABEL_1::s05"/>
          <p:cNvSpPr txBox="1"/>
          <p:nvPr/>
        </p:nvSpPr>
        <p:spPr>
          <a:xfrm>
            <a:off x="7778800" y="2176272"/>
            <a:ext cx="2538264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  <a:ea typeface="Noto Sans CJK SC"/>
              </a:rPr>
              <a:t>研发规范</a:t>
            </a:r>
          </a:p>
        </p:txBody>
      </p:sp>
      <p:sp>
        <p:nvSpPr>
          <p:cNvPr id="29" name="PST_UI_MOCK_ROW_VALUE_1::s05"/>
          <p:cNvSpPr txBox="1"/>
          <p:nvPr/>
        </p:nvSpPr>
        <p:spPr>
          <a:xfrm>
            <a:off x="10364102" y="2176272"/>
            <a:ext cx="1487948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"/>
                <a:ea typeface="Noto Sans CJK SC"/>
              </a:rPr>
              <a:t>已引用 4 处</a:t>
            </a:r>
          </a:p>
        </p:txBody>
      </p:sp>
      <p:sp>
        <p:nvSpPr>
          <p:cNvPr id="30" name="PST_UI_MOCK_ROW_2::s05"/>
          <p:cNvSpPr/>
          <p:nvPr/>
        </p:nvSpPr>
        <p:spPr>
          <a:xfrm>
            <a:off x="7650784" y="2889503"/>
            <a:ext cx="4376318" cy="658368"/>
          </a:xfrm>
          <a:prstGeom prst="roundRect">
            <a:avLst>
              <a:gd name="adj" fmla="val 11111"/>
            </a:avLst>
          </a:prstGeom>
          <a:solidFill>
            <a:srgbClr val="181A20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ST_UI_MOCK_ROW_LABEL_2::s05"/>
          <p:cNvSpPr txBox="1"/>
          <p:nvPr/>
        </p:nvSpPr>
        <p:spPr>
          <a:xfrm>
            <a:off x="7778800" y="2944368"/>
            <a:ext cx="2538264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F3EF"/>
                </a:solidFill>
                <a:latin typeface="Inter"/>
                <a:ea typeface="Noto Sans CJK SC"/>
              </a:rPr>
              <a:t>产品决策</a:t>
            </a:r>
          </a:p>
        </p:txBody>
      </p:sp>
      <p:sp>
        <p:nvSpPr>
          <p:cNvPr id="32" name="PST_UI_MOCK_ROW_VALUE_2::s05"/>
          <p:cNvSpPr txBox="1"/>
          <p:nvPr/>
        </p:nvSpPr>
        <p:spPr>
          <a:xfrm>
            <a:off x="10364102" y="2944368"/>
            <a:ext cx="1487948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Inter"/>
                <a:ea typeface="Noto Sans CJK SC"/>
              </a:rPr>
              <a:t>更新于今天</a:t>
            </a:r>
          </a:p>
        </p:txBody>
      </p:sp>
      <p:sp>
        <p:nvSpPr>
          <p:cNvPr id="33" name="PST_UI_MOCK_ROW_3::s05"/>
          <p:cNvSpPr/>
          <p:nvPr/>
        </p:nvSpPr>
        <p:spPr>
          <a:xfrm>
            <a:off x="7650784" y="3657600"/>
            <a:ext cx="4376318" cy="658368"/>
          </a:xfrm>
          <a:prstGeom prst="roundRect">
            <a:avLst>
              <a:gd name="adj" fmla="val 11111"/>
            </a:avLst>
          </a:prstGeom>
          <a:solidFill>
            <a:srgbClr val="181A20"/>
          </a:solidFill>
          <a:ln w="12700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ST_UI_MOCK_ROW_LABEL_3::s05"/>
          <p:cNvSpPr txBox="1"/>
          <p:nvPr/>
        </p:nvSpPr>
        <p:spPr>
          <a:xfrm>
            <a:off x="7778800" y="3712463"/>
            <a:ext cx="2538264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F3EF"/>
                </a:solidFill>
                <a:latin typeface="Inter"/>
                <a:ea typeface="Noto Sans CJK SC"/>
              </a:rPr>
              <a:t>客户反馈</a:t>
            </a:r>
          </a:p>
        </p:txBody>
      </p:sp>
      <p:sp>
        <p:nvSpPr>
          <p:cNvPr id="35" name="PST_UI_MOCK_ROW_VALUE_3::s05"/>
          <p:cNvSpPr txBox="1"/>
          <p:nvPr/>
        </p:nvSpPr>
        <p:spPr>
          <a:xfrm>
            <a:off x="10364102" y="3712463"/>
            <a:ext cx="1487948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Inter"/>
                <a:ea typeface="Noto Sans CJK SC"/>
              </a:rPr>
              <a:t>权限可见</a:t>
            </a:r>
          </a:p>
        </p:txBody>
      </p:sp>
      <p:sp>
        <p:nvSpPr>
          <p:cNvPr id="36" name="PST_TEXT"/>
          <p:cNvSpPr txBox="1"/>
          <p:nvPr/>
        </p:nvSpPr>
        <p:spPr>
          <a:xfrm>
            <a:off x="731520" y="1995043"/>
            <a:ext cx="4754880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自然语言问答</a:t>
            </a:r>
          </a:p>
        </p:txBody>
      </p:sp>
      <p:sp>
        <p:nvSpPr>
          <p:cNvPr id="37" name="PST_TEXT"/>
          <p:cNvSpPr txBox="1"/>
          <p:nvPr/>
        </p:nvSpPr>
        <p:spPr>
          <a:xfrm>
            <a:off x="731520" y="2371471"/>
            <a:ext cx="4754880" cy="1026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一句话提问，直接得到出处可查的答案</a:t>
            </a:r>
          </a:p>
        </p:txBody>
      </p:sp>
      <p:sp>
        <p:nvSpPr>
          <p:cNvPr id="38" name="PST_BULLETS"/>
          <p:cNvSpPr txBox="1"/>
          <p:nvPr/>
        </p:nvSpPr>
        <p:spPr>
          <a:xfrm>
            <a:off x="731520" y="3653663"/>
            <a:ext cx="4754880" cy="1209293"/>
          </a:xfrm>
          <a:prstGeom prst="rect">
            <a:avLst/>
          </a:prstGeom>
          <a:noFill/>
        </p:spPr>
        <p:txBody>
          <a:bodyPr wrap="square" lIns="18288" rIns="18288">
            <a:noAutofit/>
          </a:bodyPr>
          <a:lstStyle/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FF5A36"/>
                </a:solidFill>
                <a:latin typeface="Inter"/>
              </a:rPr>
              <a:t>—  </a:t>
            </a:r>
            <a:r>
              <a:rPr sz="1800">
                <a:solidFill>
                  <a:srgbClr val="F4F3EF"/>
                </a:solidFill>
                <a:latin typeface="Inter"/>
                <a:ea typeface="Noto Sans CJK SC"/>
              </a:rPr>
              <a:t>跨文档、代码、群聊统一检索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FF5A36"/>
                </a:solidFill>
                <a:latin typeface="Inter"/>
              </a:rPr>
              <a:t>—  </a:t>
            </a:r>
            <a:r>
              <a:rPr sz="1800">
                <a:solidFill>
                  <a:srgbClr val="F4F3EF"/>
                </a:solidFill>
                <a:latin typeface="Inter"/>
                <a:ea typeface="Noto Sans CJK SC"/>
              </a:rPr>
              <a:t>答案附原文位置，一键跳转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FF5A36"/>
                </a:solidFill>
                <a:latin typeface="Inter"/>
              </a:rPr>
              <a:t>—  </a:t>
            </a:r>
            <a:r>
              <a:rPr sz="1800">
                <a:solidFill>
                  <a:srgbClr val="F4F3EF"/>
                </a:solidFill>
                <a:latin typeface="Inter"/>
                <a:ea typeface="Noto Sans CJK SC"/>
              </a:rPr>
              <a:t>权限沿用原系统，不额外配置</a:t>
            </a:r>
          </a:p>
        </p:txBody>
      </p:sp>
      <p:sp>
        <p:nvSpPr>
          <p:cNvPr id="39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40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731520" y="640080"/>
            <a:ext cx="10728655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接入方式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731520" y="979931"/>
            <a:ext cx="10728655" cy="55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三步接入，不改变现有工作流</a:t>
            </a:r>
          </a:p>
        </p:txBody>
      </p:sp>
      <p:sp>
        <p:nvSpPr>
          <p:cNvPr id="4" name="PST_FLOW_NODE_1"/>
          <p:cNvSpPr/>
          <p:nvPr/>
        </p:nvSpPr>
        <p:spPr>
          <a:xfrm>
            <a:off x="731520" y="3040380"/>
            <a:ext cx="3015386" cy="2194560"/>
          </a:xfrm>
          <a:prstGeom prst="roundRect">
            <a:avLst>
              <a:gd name="adj" fmla="val 5000"/>
            </a:avLst>
          </a:prstGeom>
          <a:solidFill>
            <a:srgbClr val="181A20"/>
          </a:solidFill>
          <a:ln w="9525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ST_FLOW_BADGE_1"/>
          <p:cNvSpPr/>
          <p:nvPr/>
        </p:nvSpPr>
        <p:spPr>
          <a:xfrm>
            <a:off x="950976" y="3259836"/>
            <a:ext cx="384048" cy="384048"/>
          </a:xfrm>
          <a:prstGeom prst="ellipse">
            <a:avLst/>
          </a:prstGeom>
          <a:solidFill>
            <a:srgbClr val="2B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4F3EF"/>
                </a:solidFill>
                <a:latin typeface="Inter"/>
                <a:ea typeface="Noto Sans CJK SC"/>
              </a:rPr>
              <a:t>1</a:t>
            </a:r>
          </a:p>
        </p:txBody>
      </p:sp>
      <p:sp>
        <p:nvSpPr>
          <p:cNvPr id="6" name="PST_FLOW_LABEL_1"/>
          <p:cNvSpPr txBox="1"/>
          <p:nvPr/>
        </p:nvSpPr>
        <p:spPr>
          <a:xfrm>
            <a:off x="950976" y="3771900"/>
            <a:ext cx="257647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3EF"/>
                </a:solidFill>
                <a:latin typeface="Inter"/>
                <a:ea typeface="Noto Sans CJK SC"/>
              </a:rPr>
              <a:t>授权数据源</a:t>
            </a:r>
          </a:p>
        </p:txBody>
      </p:sp>
      <p:sp>
        <p:nvSpPr>
          <p:cNvPr id="7" name="PST_FLOW_DESC_1"/>
          <p:cNvSpPr txBox="1"/>
          <p:nvPr/>
        </p:nvSpPr>
        <p:spPr>
          <a:xfrm>
            <a:off x="950976" y="4338828"/>
            <a:ext cx="257647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DA1AB"/>
                </a:solidFill>
                <a:latin typeface="Inter"/>
                <a:ea typeface="Noto Sans CJK SC"/>
              </a:rPr>
              <a:t>飞书 / GitHub / Slack</a:t>
            </a:r>
          </a:p>
        </p:txBody>
      </p:sp>
      <p:sp>
        <p:nvSpPr>
          <p:cNvPr id="8" name="PST_FLOW_ARROW_1"/>
          <p:cNvSpPr/>
          <p:nvPr/>
        </p:nvSpPr>
        <p:spPr>
          <a:xfrm>
            <a:off x="4021226" y="3963924"/>
            <a:ext cx="292608" cy="347472"/>
          </a:xfrm>
          <a:prstGeom prst="chevron">
            <a:avLst/>
          </a:prstGeom>
          <a:solidFill>
            <a:srgbClr val="5C6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ST_FLOW_NODE_2"/>
          <p:cNvSpPr/>
          <p:nvPr/>
        </p:nvSpPr>
        <p:spPr>
          <a:xfrm>
            <a:off x="4588154" y="3040380"/>
            <a:ext cx="3015386" cy="2194560"/>
          </a:xfrm>
          <a:prstGeom prst="roundRect">
            <a:avLst>
              <a:gd name="adj" fmla="val 5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ST_FLOW_BADGE_2"/>
          <p:cNvSpPr/>
          <p:nvPr/>
        </p:nvSpPr>
        <p:spPr>
          <a:xfrm>
            <a:off x="4807610" y="32598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5A36"/>
                </a:solidFill>
                <a:latin typeface="Inter"/>
                <a:ea typeface="Noto Sans CJK SC"/>
              </a:rPr>
              <a:t>2</a:t>
            </a:r>
          </a:p>
        </p:txBody>
      </p:sp>
      <p:sp>
        <p:nvSpPr>
          <p:cNvPr id="11" name="PST_FLOW_LABEL_2"/>
          <p:cNvSpPr txBox="1"/>
          <p:nvPr/>
        </p:nvSpPr>
        <p:spPr>
          <a:xfrm>
            <a:off x="4807610" y="3771900"/>
            <a:ext cx="257647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  <a:ea typeface="Noto Sans CJK SC"/>
              </a:rPr>
              <a:t>自动建索引</a:t>
            </a:r>
          </a:p>
        </p:txBody>
      </p:sp>
      <p:sp>
        <p:nvSpPr>
          <p:cNvPr id="12" name="PST_FLOW_DESC_2"/>
          <p:cNvSpPr txBox="1"/>
          <p:nvPr/>
        </p:nvSpPr>
        <p:spPr>
          <a:xfrm>
            <a:off x="4807610" y="4338828"/>
            <a:ext cx="257647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  <a:ea typeface="Noto Sans CJK SC"/>
              </a:rPr>
              <a:t>首轮 30 分钟</a:t>
            </a:r>
          </a:p>
        </p:txBody>
      </p:sp>
      <p:sp>
        <p:nvSpPr>
          <p:cNvPr id="13" name="PST_FLOW_ARROW_2"/>
          <p:cNvSpPr/>
          <p:nvPr/>
        </p:nvSpPr>
        <p:spPr>
          <a:xfrm>
            <a:off x="7877860" y="3963924"/>
            <a:ext cx="292608" cy="347472"/>
          </a:xfrm>
          <a:prstGeom prst="chevron">
            <a:avLst/>
          </a:prstGeom>
          <a:solidFill>
            <a:srgbClr val="5C6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ST_FLOW_NODE_3"/>
          <p:cNvSpPr/>
          <p:nvPr/>
        </p:nvSpPr>
        <p:spPr>
          <a:xfrm>
            <a:off x="8444788" y="3040380"/>
            <a:ext cx="3015386" cy="2194560"/>
          </a:xfrm>
          <a:prstGeom prst="roundRect">
            <a:avLst>
              <a:gd name="adj" fmla="val 5000"/>
            </a:avLst>
          </a:prstGeom>
          <a:solidFill>
            <a:srgbClr val="181A20"/>
          </a:solidFill>
          <a:ln w="9525">
            <a:solidFill>
              <a:srgbClr val="2B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ST_FLOW_BADGE_3"/>
          <p:cNvSpPr/>
          <p:nvPr/>
        </p:nvSpPr>
        <p:spPr>
          <a:xfrm>
            <a:off x="8664244" y="3259836"/>
            <a:ext cx="384048" cy="384048"/>
          </a:xfrm>
          <a:prstGeom prst="ellipse">
            <a:avLst/>
          </a:prstGeom>
          <a:solidFill>
            <a:srgbClr val="2B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4F3EF"/>
                </a:solidFill>
                <a:latin typeface="Inter"/>
                <a:ea typeface="Noto Sans CJK SC"/>
              </a:rPr>
              <a:t>3</a:t>
            </a:r>
          </a:p>
        </p:txBody>
      </p:sp>
      <p:sp>
        <p:nvSpPr>
          <p:cNvPr id="16" name="PST_FLOW_LABEL_3"/>
          <p:cNvSpPr txBox="1"/>
          <p:nvPr/>
        </p:nvSpPr>
        <p:spPr>
          <a:xfrm>
            <a:off x="8664244" y="3771900"/>
            <a:ext cx="257647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3EF"/>
                </a:solidFill>
                <a:latin typeface="Inter"/>
                <a:ea typeface="Noto Sans CJK SC"/>
              </a:rPr>
              <a:t>原处提问</a:t>
            </a:r>
          </a:p>
        </p:txBody>
      </p:sp>
      <p:sp>
        <p:nvSpPr>
          <p:cNvPr id="17" name="PST_FLOW_DESC_3"/>
          <p:cNvSpPr txBox="1"/>
          <p:nvPr/>
        </p:nvSpPr>
        <p:spPr>
          <a:xfrm>
            <a:off x="8664244" y="4338828"/>
            <a:ext cx="2576474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9DA1AB"/>
                </a:solidFill>
                <a:latin typeface="Inter"/>
                <a:ea typeface="Noto Sans CJK SC"/>
              </a:rPr>
              <a:t>无需切换窗口</a:t>
            </a:r>
          </a:p>
        </p:txBody>
      </p:sp>
      <p:sp>
        <p:nvSpPr>
          <p:cNvPr id="18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19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UI_MOCK_SHELL::s07"/>
          <p:cNvSpPr/>
          <p:nvPr/>
        </p:nvSpPr>
        <p:spPr>
          <a:xfrm>
            <a:off x="0" y="0"/>
            <a:ext cx="12191695" cy="3246120"/>
          </a:xfrm>
          <a:prstGeom prst="roundRect">
            <a:avLst>
              <a:gd name="adj" fmla="val 5070"/>
            </a:avLst>
          </a:prstGeom>
          <a:solidFill>
            <a:srgbClr val="132026"/>
          </a:solidFill>
          <a:ln w="12700">
            <a:solidFill>
              <a:srgbClr val="455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ST_UI_MOCK_TOPBAR::s07"/>
          <p:cNvSpPr/>
          <p:nvPr/>
        </p:nvSpPr>
        <p:spPr>
          <a:xfrm>
            <a:off x="18288" y="18288"/>
            <a:ext cx="12155119" cy="438912"/>
          </a:xfrm>
          <a:prstGeom prst="roundRect">
            <a:avLst>
              <a:gd name="adj" fmla="val 12000"/>
            </a:avLst>
          </a:prstGeom>
          <a:solidFill>
            <a:srgbClr val="2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ST_UI_MOCK_TOPBAR_JOIN::s07"/>
          <p:cNvSpPr/>
          <p:nvPr/>
        </p:nvSpPr>
        <p:spPr>
          <a:xfrm>
            <a:off x="18288" y="246888"/>
            <a:ext cx="12155119" cy="210311"/>
          </a:xfrm>
          <a:prstGeom prst="rect">
            <a:avLst/>
          </a:prstGeom>
          <a:solidFill>
            <a:srgbClr val="2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PST_UI_MOCK_DIVIDER::s07"/>
          <p:cNvCxnSpPr/>
          <p:nvPr/>
        </p:nvCxnSpPr>
        <p:spPr>
          <a:xfrm>
            <a:off x="18288" y="457200"/>
            <a:ext cx="12155119" cy="0"/>
          </a:xfrm>
          <a:prstGeom prst="line">
            <a:avLst/>
          </a:prstGeom>
          <a:ln w="10160">
            <a:solidFill>
              <a:srgbClr val="45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ST_UI_MOCK_DOT_1::s07"/>
          <p:cNvSpPr/>
          <p:nvPr/>
        </p:nvSpPr>
        <p:spPr>
          <a:xfrm>
            <a:off x="155448" y="164592"/>
            <a:ext cx="68580" cy="68580"/>
          </a:xfrm>
          <a:prstGeom prst="ellipse">
            <a:avLst/>
          </a:prstGeom>
          <a:solidFill>
            <a:srgbClr val="E66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ST_UI_MOCK_DOT_2::s07"/>
          <p:cNvSpPr/>
          <p:nvPr/>
        </p:nvSpPr>
        <p:spPr>
          <a:xfrm>
            <a:off x="320040" y="164592"/>
            <a:ext cx="68580" cy="68580"/>
          </a:xfrm>
          <a:prstGeom prst="ellipse">
            <a:avLst/>
          </a:prstGeom>
          <a:solidFill>
            <a:srgbClr val="F3B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ST_UI_MOCK_DOT_3::s07"/>
          <p:cNvSpPr/>
          <p:nvPr/>
        </p:nvSpPr>
        <p:spPr>
          <a:xfrm>
            <a:off x="484632" y="164592"/>
            <a:ext cx="68580" cy="68580"/>
          </a:xfrm>
          <a:prstGeom prst="ellipse">
            <a:avLst/>
          </a:prstGeom>
          <a:solidFill>
            <a:srgbClr val="00A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ST_UI_MOCK_TITLE::s07"/>
          <p:cNvSpPr txBox="1"/>
          <p:nvPr/>
        </p:nvSpPr>
        <p:spPr>
          <a:xfrm>
            <a:off x="640080" y="73152"/>
            <a:ext cx="10500055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  <a:ea typeface="Noto Sans CJK SC"/>
              </a:rPr>
              <a:t>Lumen 来源追溯</a:t>
            </a:r>
          </a:p>
        </p:txBody>
      </p:sp>
      <p:sp>
        <p:nvSpPr>
          <p:cNvPr id="10" name="PST_UI_MOCK_BADGE::s07"/>
          <p:cNvSpPr/>
          <p:nvPr/>
        </p:nvSpPr>
        <p:spPr>
          <a:xfrm>
            <a:off x="11249863" y="73152"/>
            <a:ext cx="768096" cy="274320"/>
          </a:xfrm>
          <a:prstGeom prst="roundRect">
            <a:avLst>
              <a:gd name="adj" fmla="val 12000"/>
            </a:avLst>
          </a:prstGeom>
          <a:solidFill>
            <a:srgbClr val="2A3C43"/>
          </a:solidFill>
          <a:ln w="12700">
            <a:solidFill>
              <a:srgbClr val="455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ST_UI_MOCK_BADGE_TEXT::s07"/>
          <p:cNvSpPr txBox="1"/>
          <p:nvPr/>
        </p:nvSpPr>
        <p:spPr>
          <a:xfrm>
            <a:off x="11268151" y="73152"/>
            <a:ext cx="73152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8C7B8"/>
                </a:solidFill>
                <a:latin typeface="Inter"/>
                <a:ea typeface="Noto Sans CJK SC"/>
              </a:rPr>
              <a:t>界面示意</a:t>
            </a:r>
          </a:p>
        </p:txBody>
      </p:sp>
      <p:sp>
        <p:nvSpPr>
          <p:cNvPr id="12" name="PST_UI_MOCK_HEADLINE::s07"/>
          <p:cNvSpPr txBox="1"/>
          <p:nvPr/>
        </p:nvSpPr>
        <p:spPr>
          <a:xfrm>
            <a:off x="164592" y="585216"/>
            <a:ext cx="11862511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Noto Sans CJK SC"/>
              </a:rPr>
              <a:t>回答与原文同屏核验</a:t>
            </a:r>
          </a:p>
        </p:txBody>
      </p:sp>
      <p:sp>
        <p:nvSpPr>
          <p:cNvPr id="13" name="PST_UI_MOCK_SUBHEAD::s07"/>
          <p:cNvSpPr txBox="1"/>
          <p:nvPr/>
        </p:nvSpPr>
        <p:spPr>
          <a:xfrm>
            <a:off x="164592" y="914400"/>
            <a:ext cx="11862511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C7B8"/>
                </a:solidFill>
                <a:latin typeface="Inter"/>
                <a:ea typeface="Noto Sans CJK SC"/>
              </a:rPr>
              <a:t>保留作者、时间与权限边界</a:t>
            </a:r>
          </a:p>
        </p:txBody>
      </p:sp>
      <p:sp>
        <p:nvSpPr>
          <p:cNvPr id="14" name="PST_UI_MOCK_KPI_1::s07"/>
          <p:cNvSpPr/>
          <p:nvPr/>
        </p:nvSpPr>
        <p:spPr>
          <a:xfrm>
            <a:off x="164592" y="1243584"/>
            <a:ext cx="5858103" cy="713232"/>
          </a:xfrm>
          <a:prstGeom prst="roundRect">
            <a:avLst>
              <a:gd name="adj" fmla="val 11538"/>
            </a:avLst>
          </a:prstGeom>
          <a:solidFill>
            <a:srgbClr val="2A3C43"/>
          </a:solidFill>
          <a:ln w="12700">
            <a:solidFill>
              <a:srgbClr val="455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ST_UI_MOCK_KPI_LABEL_1::s07"/>
          <p:cNvSpPr txBox="1"/>
          <p:nvPr/>
        </p:nvSpPr>
        <p:spPr>
          <a:xfrm>
            <a:off x="256032" y="1316736"/>
            <a:ext cx="5675223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C7B8"/>
                </a:solidFill>
                <a:latin typeface="Inter"/>
                <a:ea typeface="Noto Sans CJK SC"/>
              </a:rPr>
              <a:t>引用段落</a:t>
            </a:r>
          </a:p>
        </p:txBody>
      </p:sp>
      <p:sp>
        <p:nvSpPr>
          <p:cNvPr id="16" name="PST_UI_MOCK_KPI_VALUE_1::s07"/>
          <p:cNvSpPr txBox="1"/>
          <p:nvPr/>
        </p:nvSpPr>
        <p:spPr>
          <a:xfrm>
            <a:off x="256032" y="1554480"/>
            <a:ext cx="5675223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  <a:ea typeface="Noto Sans CJK SC"/>
              </a:rPr>
              <a:t>4</a:t>
            </a:r>
          </a:p>
        </p:txBody>
      </p:sp>
      <p:sp>
        <p:nvSpPr>
          <p:cNvPr id="17" name="PST_UI_MOCK_KPI_2::s07"/>
          <p:cNvSpPr/>
          <p:nvPr/>
        </p:nvSpPr>
        <p:spPr>
          <a:xfrm>
            <a:off x="6168999" y="1243584"/>
            <a:ext cx="5858103" cy="713232"/>
          </a:xfrm>
          <a:prstGeom prst="roundRect">
            <a:avLst>
              <a:gd name="adj" fmla="val 11538"/>
            </a:avLst>
          </a:prstGeom>
          <a:solidFill>
            <a:srgbClr val="2A3C43"/>
          </a:solidFill>
          <a:ln w="1270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ST_UI_MOCK_KPI_LABEL_2::s07"/>
          <p:cNvSpPr txBox="1"/>
          <p:nvPr/>
        </p:nvSpPr>
        <p:spPr>
          <a:xfrm>
            <a:off x="6260439" y="1316736"/>
            <a:ext cx="5675223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C7B8"/>
                </a:solidFill>
                <a:latin typeface="Inter"/>
                <a:ea typeface="Noto Sans CJK SC"/>
              </a:rPr>
              <a:t>最新更新</a:t>
            </a:r>
          </a:p>
        </p:txBody>
      </p:sp>
      <p:sp>
        <p:nvSpPr>
          <p:cNvPr id="19" name="PST_UI_MOCK_KPI_VALUE_2::s07"/>
          <p:cNvSpPr txBox="1"/>
          <p:nvPr/>
        </p:nvSpPr>
        <p:spPr>
          <a:xfrm>
            <a:off x="6260439" y="1554480"/>
            <a:ext cx="5675223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  <a:ea typeface="Noto Sans CJK SC"/>
              </a:rPr>
              <a:t>今天</a:t>
            </a:r>
          </a:p>
        </p:txBody>
      </p:sp>
      <p:sp>
        <p:nvSpPr>
          <p:cNvPr id="20" name="PST_UI_MOCK_ROW_1::s07"/>
          <p:cNvSpPr/>
          <p:nvPr/>
        </p:nvSpPr>
        <p:spPr>
          <a:xfrm>
            <a:off x="164592" y="2121408"/>
            <a:ext cx="11862511" cy="438912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 w="1270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ST_UI_MOCK_ROW_LABEL_1::s07"/>
          <p:cNvSpPr txBox="1"/>
          <p:nvPr/>
        </p:nvSpPr>
        <p:spPr>
          <a:xfrm>
            <a:off x="292608" y="2176272"/>
            <a:ext cx="6880256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  <a:ea typeface="Noto Sans CJK SC"/>
              </a:rPr>
              <a:t>产品决策记录</a:t>
            </a:r>
          </a:p>
        </p:txBody>
      </p:sp>
      <p:sp>
        <p:nvSpPr>
          <p:cNvPr id="22" name="PST_UI_MOCK_ROW_VALUE_1::s07"/>
          <p:cNvSpPr txBox="1"/>
          <p:nvPr/>
        </p:nvSpPr>
        <p:spPr>
          <a:xfrm>
            <a:off x="7519348" y="2176272"/>
            <a:ext cx="4033253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"/>
                <a:ea typeface="Noto Sans CJK SC"/>
              </a:rPr>
              <a:t>已定位</a:t>
            </a:r>
          </a:p>
        </p:txBody>
      </p:sp>
      <p:sp>
        <p:nvSpPr>
          <p:cNvPr id="23" name="PST_UI_MOCK_ROW_2::s07"/>
          <p:cNvSpPr/>
          <p:nvPr/>
        </p:nvSpPr>
        <p:spPr>
          <a:xfrm>
            <a:off x="164592" y="2670048"/>
            <a:ext cx="11862511" cy="438912"/>
          </a:xfrm>
          <a:prstGeom prst="roundRect">
            <a:avLst>
              <a:gd name="adj" fmla="val 12000"/>
            </a:avLst>
          </a:prstGeom>
          <a:solidFill>
            <a:srgbClr val="203138"/>
          </a:solidFill>
          <a:ln w="12700">
            <a:solidFill>
              <a:srgbClr val="455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ST_UI_MOCK_ROW_LABEL_2::s07"/>
          <p:cNvSpPr txBox="1"/>
          <p:nvPr/>
        </p:nvSpPr>
        <p:spPr>
          <a:xfrm>
            <a:off x="292608" y="2724912"/>
            <a:ext cx="6880256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nter"/>
                <a:ea typeface="Noto Sans CJK SC"/>
              </a:rPr>
              <a:t>研发规范</a:t>
            </a:r>
          </a:p>
        </p:txBody>
      </p:sp>
      <p:sp>
        <p:nvSpPr>
          <p:cNvPr id="25" name="PST_UI_MOCK_ROW_VALUE_2::s07"/>
          <p:cNvSpPr txBox="1"/>
          <p:nvPr/>
        </p:nvSpPr>
        <p:spPr>
          <a:xfrm>
            <a:off x="7519348" y="2724912"/>
            <a:ext cx="4033253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5A36"/>
                </a:solidFill>
                <a:latin typeface="Inter"/>
                <a:ea typeface="Noto Sans CJK SC"/>
              </a:rPr>
              <a:t>版本 2.4</a:t>
            </a:r>
          </a:p>
        </p:txBody>
      </p:sp>
      <p:sp>
        <p:nvSpPr>
          <p:cNvPr id="26" name="PST_TEXT"/>
          <p:cNvSpPr txBox="1"/>
          <p:nvPr/>
        </p:nvSpPr>
        <p:spPr>
          <a:xfrm>
            <a:off x="731520" y="4096385"/>
            <a:ext cx="10728655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可追溯</a:t>
            </a:r>
          </a:p>
        </p:txBody>
      </p:sp>
      <p:sp>
        <p:nvSpPr>
          <p:cNvPr id="27" name="PST_TEXT"/>
          <p:cNvSpPr txBox="1"/>
          <p:nvPr/>
        </p:nvSpPr>
        <p:spPr>
          <a:xfrm>
            <a:off x="731520" y="4472813"/>
            <a:ext cx="10728655" cy="55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答案带来源，可信才敢用</a:t>
            </a:r>
          </a:p>
        </p:txBody>
      </p:sp>
      <p:sp>
        <p:nvSpPr>
          <p:cNvPr id="28" name="PST_TEXT"/>
          <p:cNvSpPr txBox="1"/>
          <p:nvPr/>
        </p:nvSpPr>
        <p:spPr>
          <a:xfrm>
            <a:off x="731520" y="5287645"/>
            <a:ext cx="10728655" cy="35432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4F3EF"/>
                </a:solidFill>
                <a:latin typeface="Inter"/>
                <a:ea typeface="Noto Sans CJK SC"/>
              </a:rPr>
              <a:t>每条回答都能展开到原始段落、作者和时间。不确定的问题，Lumen 会直接说不知道。</a:t>
            </a:r>
          </a:p>
        </p:txBody>
      </p:sp>
      <p:sp>
        <p:nvSpPr>
          <p:cNvPr id="29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30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731520" y="640080"/>
            <a:ext cx="10728655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证据锚点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731520" y="979931"/>
            <a:ext cx="10728655" cy="55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每条结论都配一张可核验的证据图</a:t>
            </a:r>
          </a:p>
        </p:txBody>
      </p:sp>
      <p:sp>
        <p:nvSpPr>
          <p:cNvPr id="4" name="PST_MEDIA_BAR_1"/>
          <p:cNvSpPr/>
          <p:nvPr/>
        </p:nvSpPr>
        <p:spPr>
          <a:xfrm>
            <a:off x="731520" y="2057400"/>
            <a:ext cx="6437193" cy="822960"/>
          </a:xfrm>
          <a:prstGeom prst="roundRect">
            <a:avLst>
              <a:gd name="adj" fmla="val 8888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ST_TEXT"/>
          <p:cNvSpPr txBox="1"/>
          <p:nvPr/>
        </p:nvSpPr>
        <p:spPr>
          <a:xfrm>
            <a:off x="896112" y="2130552"/>
            <a:ext cx="2446133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  <a:ea typeface="Noto Sans CJK SC"/>
              </a:rPr>
              <a:t>原文定位</a:t>
            </a:r>
          </a:p>
        </p:txBody>
      </p:sp>
      <p:sp>
        <p:nvSpPr>
          <p:cNvPr id="6" name="PST_TEXT"/>
          <p:cNvSpPr txBox="1"/>
          <p:nvPr/>
        </p:nvSpPr>
        <p:spPr>
          <a:xfrm>
            <a:off x="3499513" y="2130552"/>
            <a:ext cx="334734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  <a:ea typeface="Noto Sans CJK SC"/>
              </a:rPr>
              <a:t>展开到段落、作者和时间</a:t>
            </a:r>
          </a:p>
        </p:txBody>
      </p:sp>
      <p:sp>
        <p:nvSpPr>
          <p:cNvPr id="7" name="PST_MEDIA_BAR_LINK_1"/>
          <p:cNvSpPr/>
          <p:nvPr/>
        </p:nvSpPr>
        <p:spPr>
          <a:xfrm>
            <a:off x="7168713" y="2459736"/>
            <a:ext cx="411479" cy="18288"/>
          </a:xfrm>
          <a:prstGeom prst="rect">
            <a:avLst/>
          </a:prstGeom>
          <a:solidFill>
            <a:srgbClr val="2B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ST_MEDIA_BAR_IMAGE_1" descr="crop_3423484117155327946_feature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193" y="2057400"/>
            <a:ext cx="2148840" cy="822960"/>
          </a:xfrm>
          <a:prstGeom prst="rect">
            <a:avLst/>
          </a:prstGeom>
        </p:spPr>
      </p:pic>
      <p:sp>
        <p:nvSpPr>
          <p:cNvPr id="9" name="PST_MEDIA_BAR_2"/>
          <p:cNvSpPr/>
          <p:nvPr/>
        </p:nvSpPr>
        <p:spPr>
          <a:xfrm>
            <a:off x="731520" y="3008376"/>
            <a:ext cx="6437193" cy="822960"/>
          </a:xfrm>
          <a:prstGeom prst="roundRect">
            <a:avLst>
              <a:gd name="adj" fmla="val 8888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ST_TEXT"/>
          <p:cNvSpPr txBox="1"/>
          <p:nvPr/>
        </p:nvSpPr>
        <p:spPr>
          <a:xfrm>
            <a:off x="896112" y="3081528"/>
            <a:ext cx="2446133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4F3EF"/>
                </a:solidFill>
                <a:latin typeface="Inter"/>
                <a:ea typeface="Noto Sans CJK SC"/>
              </a:rPr>
              <a:t>问题上下文</a:t>
            </a:r>
          </a:p>
        </p:txBody>
      </p:sp>
      <p:sp>
        <p:nvSpPr>
          <p:cNvPr id="11" name="PST_TEXT"/>
          <p:cNvSpPr txBox="1"/>
          <p:nvPr/>
        </p:nvSpPr>
        <p:spPr>
          <a:xfrm>
            <a:off x="3499513" y="3081528"/>
            <a:ext cx="334734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DA1AB"/>
                </a:solidFill>
                <a:latin typeface="Inter"/>
                <a:ea typeface="Noto Sans CJK SC"/>
              </a:rPr>
              <a:t>保留问题与权限边界</a:t>
            </a:r>
          </a:p>
        </p:txBody>
      </p:sp>
      <p:sp>
        <p:nvSpPr>
          <p:cNvPr id="12" name="PST_MEDIA_BAR_LINK_2"/>
          <p:cNvSpPr/>
          <p:nvPr/>
        </p:nvSpPr>
        <p:spPr>
          <a:xfrm>
            <a:off x="7168713" y="3410712"/>
            <a:ext cx="2142622" cy="18288"/>
          </a:xfrm>
          <a:prstGeom prst="rect">
            <a:avLst/>
          </a:prstGeom>
          <a:solidFill>
            <a:srgbClr val="2B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ST_MEDIA_BAR_IMAGE_2" descr="crop_3620953122480280417_feature-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335" y="3008376"/>
            <a:ext cx="2148840" cy="822960"/>
          </a:xfrm>
          <a:prstGeom prst="rect">
            <a:avLst/>
          </a:prstGeom>
        </p:spPr>
      </p:pic>
      <p:sp>
        <p:nvSpPr>
          <p:cNvPr id="14" name="PST_MEDIA_BAR_3"/>
          <p:cNvSpPr/>
          <p:nvPr/>
        </p:nvSpPr>
        <p:spPr>
          <a:xfrm>
            <a:off x="731520" y="3959352"/>
            <a:ext cx="6437193" cy="822960"/>
          </a:xfrm>
          <a:prstGeom prst="roundRect">
            <a:avLst>
              <a:gd name="adj" fmla="val 8888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ST_TEXT"/>
          <p:cNvSpPr txBox="1"/>
          <p:nvPr/>
        </p:nvSpPr>
        <p:spPr>
          <a:xfrm>
            <a:off x="896112" y="4032504"/>
            <a:ext cx="2446133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4F3EF"/>
                </a:solidFill>
                <a:latin typeface="Inter"/>
                <a:ea typeface="Noto Sans CJK SC"/>
              </a:rPr>
              <a:t>团队采用</a:t>
            </a:r>
          </a:p>
        </p:txBody>
      </p:sp>
      <p:sp>
        <p:nvSpPr>
          <p:cNvPr id="16" name="PST_TEXT"/>
          <p:cNvSpPr txBox="1"/>
          <p:nvPr/>
        </p:nvSpPr>
        <p:spPr>
          <a:xfrm>
            <a:off x="3499513" y="4032504"/>
            <a:ext cx="334734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DA1AB"/>
                </a:solidFill>
                <a:latin typeface="Inter"/>
                <a:ea typeface="Noto Sans CJK SC"/>
              </a:rPr>
              <a:t>用真实使用场景复核结果</a:t>
            </a:r>
          </a:p>
        </p:txBody>
      </p:sp>
      <p:sp>
        <p:nvSpPr>
          <p:cNvPr id="17" name="PST_MEDIA_BAR_LINK_3"/>
          <p:cNvSpPr/>
          <p:nvPr/>
        </p:nvSpPr>
        <p:spPr>
          <a:xfrm>
            <a:off x="7168713" y="4361688"/>
            <a:ext cx="411479" cy="18288"/>
          </a:xfrm>
          <a:prstGeom prst="rect">
            <a:avLst/>
          </a:prstGeom>
          <a:solidFill>
            <a:srgbClr val="2B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ST_MEDIA_BAR_IMAGE_3" descr="crop_3521616645343354378_team-quo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193" y="3959352"/>
            <a:ext cx="2148840" cy="822960"/>
          </a:xfrm>
          <a:prstGeom prst="rect">
            <a:avLst/>
          </a:prstGeom>
        </p:spPr>
      </p:pic>
      <p:sp>
        <p:nvSpPr>
          <p:cNvPr id="19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20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731520" y="640080"/>
            <a:ext cx="10728655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试点结果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731520" y="979931"/>
            <a:ext cx="10728655" cy="55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上线 8 周后，重复提问下降 62%（示例数据）</a:t>
            </a:r>
          </a:p>
        </p:txBody>
      </p:sp>
      <p:pic>
        <p:nvPicPr>
          <p:cNvPr id="4" name="PST_CHART" descr="char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10728655" cy="4023359"/>
          </a:xfrm>
          <a:prstGeom prst="rect">
            <a:avLst/>
          </a:prstGeom>
        </p:spPr>
      </p:pic>
      <p:sp>
        <p:nvSpPr>
          <p:cNvPr id="5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6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731520" y="1418907"/>
            <a:ext cx="10728655" cy="2666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5A36"/>
                </a:solidFill>
                <a:latin typeface="Inter"/>
                <a:ea typeface="Noto Sans CJK SC"/>
              </a:rPr>
              <a:t>效率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731520" y="1777047"/>
            <a:ext cx="10728655" cy="20192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200" b="1" i="0">
                <a:solidFill>
                  <a:srgbClr val="FF5A36"/>
                </a:solidFill>
                <a:latin typeface="Inter"/>
                <a:ea typeface="Noto Sans CJK SC"/>
              </a:rPr>
              <a:t>3.4x</a:t>
            </a:r>
          </a:p>
        </p:txBody>
      </p:sp>
      <p:sp>
        <p:nvSpPr>
          <p:cNvPr id="4" name="PST_TEXT"/>
          <p:cNvSpPr txBox="1"/>
          <p:nvPr/>
        </p:nvSpPr>
        <p:spPr>
          <a:xfrm>
            <a:off x="731520" y="3887787"/>
            <a:ext cx="10728655" cy="3835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3EF"/>
                </a:solidFill>
                <a:latin typeface="Inter"/>
                <a:ea typeface="Noto Sans CJK SC"/>
              </a:rPr>
              <a:t>找到答案的速度是原来的 3.4 倍（示例数据）</a:t>
            </a:r>
          </a:p>
        </p:txBody>
      </p:sp>
      <p:sp>
        <p:nvSpPr>
          <p:cNvPr id="5" name="PST_TEXT"/>
          <p:cNvSpPr txBox="1"/>
          <p:nvPr/>
        </p:nvSpPr>
        <p:spPr>
          <a:xfrm>
            <a:off x="731520" y="4408487"/>
            <a:ext cx="10728655" cy="3835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DA1AB"/>
                </a:solidFill>
                <a:latin typeface="Inter"/>
                <a:ea typeface="Noto Sans CJK SC"/>
              </a:rPr>
              <a:t>中位数从 11 分钟降到 3 分 15 秒</a:t>
            </a:r>
          </a:p>
        </p:txBody>
      </p:sp>
      <p:sp>
        <p:nvSpPr>
          <p:cNvPr id="6" name="PST_TEXT"/>
          <p:cNvSpPr txBox="1"/>
          <p:nvPr/>
        </p:nvSpPr>
        <p:spPr>
          <a:xfrm>
            <a:off x="731520" y="5157787"/>
            <a:ext cx="10728655" cy="28130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DA1AB"/>
                </a:solidFill>
                <a:latin typeface="Inter"/>
                <a:ea typeface="Noto Sans CJK SC"/>
              </a:rPr>
              <a:t>来源：示例数据，仅用于版式演示</a:t>
            </a:r>
          </a:p>
        </p:txBody>
      </p:sp>
      <p:sp>
        <p:nvSpPr>
          <p:cNvPr id="7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8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ST_IMAGE" descr="crop_5024134998100613538_closing-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1880"/>
            <a:ext cx="12191695" cy="3246120"/>
          </a:xfrm>
          <a:prstGeom prst="rect">
            <a:avLst/>
          </a:prstGeom>
        </p:spPr>
      </p:pic>
      <p:sp>
        <p:nvSpPr>
          <p:cNvPr id="3" name="PST_TEXT"/>
          <p:cNvSpPr txBox="1"/>
          <p:nvPr/>
        </p:nvSpPr>
        <p:spPr>
          <a:xfrm>
            <a:off x="640080" y="228600"/>
            <a:ext cx="10972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FF5A36"/>
                </a:solidFill>
                <a:latin typeface="Inter"/>
                <a:ea typeface="Noto Sans CJK SC"/>
              </a:rPr>
              <a:t>“</a:t>
            </a:r>
          </a:p>
        </p:txBody>
      </p:sp>
      <p:sp>
        <p:nvSpPr>
          <p:cNvPr id="4" name="PST_TEXT"/>
          <p:cNvSpPr txBox="1"/>
          <p:nvPr/>
        </p:nvSpPr>
        <p:spPr>
          <a:xfrm>
            <a:off x="1280160" y="1132840"/>
            <a:ext cx="10180015" cy="52959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4F3EF"/>
                </a:solidFill>
                <a:latin typeface="Inter"/>
                <a:ea typeface="Noto Sans CJK SC"/>
              </a:rPr>
              <a:t>新人第一周就能自己找到答案，不再反复问老员工。</a:t>
            </a:r>
          </a:p>
        </p:txBody>
      </p:sp>
      <p:sp>
        <p:nvSpPr>
          <p:cNvPr id="5" name="PST_TEXT"/>
          <p:cNvSpPr txBox="1"/>
          <p:nvPr/>
        </p:nvSpPr>
        <p:spPr>
          <a:xfrm>
            <a:off x="1280160" y="1936749"/>
            <a:ext cx="10180015" cy="29590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DA1AB"/>
                </a:solidFill>
                <a:latin typeface="Inter"/>
                <a:ea typeface="Noto Sans CJK SC"/>
              </a:rPr>
              <a:t>示例引言 · 交付前替换为真实客户原话</a:t>
            </a:r>
          </a:p>
        </p:txBody>
      </p:sp>
      <p:sp>
        <p:nvSpPr>
          <p:cNvPr id="6" name="PST_TEXT"/>
          <p:cNvSpPr txBox="1"/>
          <p:nvPr/>
        </p:nvSpPr>
        <p:spPr>
          <a:xfrm>
            <a:off x="1280160" y="2689860"/>
            <a:ext cx="10180015" cy="3835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9DA1AB"/>
                </a:solidFill>
                <a:latin typeface="Inter"/>
                <a:ea typeface="Noto Sans CJK SC"/>
              </a:rPr>
              <a:t>新人上手周期缩短（示例引言）</a:t>
            </a:r>
          </a:p>
        </p:txBody>
      </p:sp>
      <p:sp>
        <p:nvSpPr>
          <p:cNvPr id="7" name="PST_FOOTER_LABEL"/>
          <p:cNvSpPr txBox="1"/>
          <p:nvPr/>
        </p:nvSpPr>
        <p:spPr>
          <a:xfrm>
            <a:off x="731520" y="3264408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8" name="PST_FOOTER_NUMBER"/>
          <p:cNvSpPr txBox="1"/>
          <p:nvPr/>
        </p:nvSpPr>
        <p:spPr>
          <a:xfrm>
            <a:off x="7168713" y="3264408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ST_TEXT"/>
          <p:cNvSpPr txBox="1"/>
          <p:nvPr/>
        </p:nvSpPr>
        <p:spPr>
          <a:xfrm>
            <a:off x="731520" y="640080"/>
            <a:ext cx="10728655" cy="55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4F3EF"/>
                </a:solidFill>
                <a:latin typeface="Inter"/>
                <a:ea typeface="Noto Sans CJK SC"/>
              </a:rPr>
              <a:t>同样的问题，两种结果</a:t>
            </a:r>
          </a:p>
        </p:txBody>
      </p:sp>
      <p:sp>
        <p:nvSpPr>
          <p:cNvPr id="3" name="PST_TEXT"/>
          <p:cNvSpPr txBox="1"/>
          <p:nvPr/>
        </p:nvSpPr>
        <p:spPr>
          <a:xfrm>
            <a:off x="731520" y="2057400"/>
            <a:ext cx="4998567" cy="548640"/>
          </a:xfrm>
          <a:prstGeom prst="rect">
            <a:avLst/>
          </a:prstGeom>
          <a:noFill/>
        </p:spPr>
        <p:txBody>
          <a:bodyPr wrap="square" lIns="18288" rIns="18288" tIns="18288" bIns="18288" anchor="b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DA1AB"/>
                </a:solidFill>
                <a:latin typeface="Inter"/>
                <a:ea typeface="Noto Sans CJK SC"/>
              </a:rPr>
              <a:t>过去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97480"/>
            <a:ext cx="4998567" cy="27432"/>
          </a:xfrm>
          <a:prstGeom prst="rect">
            <a:avLst/>
          </a:prstGeom>
          <a:solidFill>
            <a:srgbClr val="2B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ST_BULLETS"/>
          <p:cNvSpPr txBox="1"/>
          <p:nvPr/>
        </p:nvSpPr>
        <p:spPr>
          <a:xfrm>
            <a:off x="731520" y="2926080"/>
            <a:ext cx="4998567" cy="3246120"/>
          </a:xfrm>
          <a:prstGeom prst="rect">
            <a:avLst/>
          </a:prstGeom>
          <a:noFill/>
        </p:spPr>
        <p:txBody>
          <a:bodyPr wrap="square" lIns="18288" rIns="18288">
            <a:noAutofit/>
          </a:bodyPr>
          <a:lstStyle/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9DA1AB"/>
                </a:solidFill>
                <a:latin typeface="Inter"/>
              </a:rPr>
              <a:t>—  </a:t>
            </a:r>
            <a:r>
              <a:rPr sz="1800">
                <a:solidFill>
                  <a:srgbClr val="9DA1AB"/>
                </a:solidFill>
                <a:latin typeface="Inter"/>
                <a:ea typeface="Noto Sans CJK SC"/>
              </a:rPr>
              <a:t>群里问，等回复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9DA1AB"/>
                </a:solidFill>
                <a:latin typeface="Inter"/>
              </a:rPr>
              <a:t>—  </a:t>
            </a:r>
            <a:r>
              <a:rPr sz="1800">
                <a:solidFill>
                  <a:srgbClr val="9DA1AB"/>
                </a:solidFill>
                <a:latin typeface="Inter"/>
                <a:ea typeface="Noto Sans CJK SC"/>
              </a:rPr>
              <a:t>翻 5 个系统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9DA1AB"/>
                </a:solidFill>
                <a:latin typeface="Inter"/>
              </a:rPr>
              <a:t>—  </a:t>
            </a:r>
            <a:r>
              <a:rPr sz="1800">
                <a:solidFill>
                  <a:srgbClr val="9DA1AB"/>
                </a:solidFill>
                <a:latin typeface="Inter"/>
                <a:ea typeface="Noto Sans CJK SC"/>
              </a:rPr>
              <a:t>找到的是旧版本</a:t>
            </a:r>
          </a:p>
        </p:txBody>
      </p:sp>
      <p:sp>
        <p:nvSpPr>
          <p:cNvPr id="6" name="PST_TEXT"/>
          <p:cNvSpPr txBox="1"/>
          <p:nvPr/>
        </p:nvSpPr>
        <p:spPr>
          <a:xfrm>
            <a:off x="6461607" y="2057400"/>
            <a:ext cx="4998567" cy="548640"/>
          </a:xfrm>
          <a:prstGeom prst="rect">
            <a:avLst/>
          </a:prstGeom>
          <a:noFill/>
        </p:spPr>
        <p:txBody>
          <a:bodyPr wrap="square" lIns="18288" rIns="18288" tIns="18288" bIns="18288" anchor="b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5A36"/>
                </a:solidFill>
                <a:latin typeface="Inter"/>
                <a:ea typeface="Noto Sans CJK SC"/>
              </a:rPr>
              <a:t>现在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607" y="2697480"/>
            <a:ext cx="4998567" cy="2743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ST_BULLETS"/>
          <p:cNvSpPr txBox="1"/>
          <p:nvPr/>
        </p:nvSpPr>
        <p:spPr>
          <a:xfrm>
            <a:off x="6461607" y="2926080"/>
            <a:ext cx="4998567" cy="3246120"/>
          </a:xfrm>
          <a:prstGeom prst="rect">
            <a:avLst/>
          </a:prstGeom>
          <a:noFill/>
        </p:spPr>
        <p:txBody>
          <a:bodyPr wrap="square" lIns="18288" rIns="18288">
            <a:noAutofit/>
          </a:bodyPr>
          <a:lstStyle/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FF5A36"/>
                </a:solidFill>
                <a:latin typeface="Inter"/>
              </a:rPr>
              <a:t>—  </a:t>
            </a:r>
            <a:r>
              <a:rPr sz="1800">
                <a:solidFill>
                  <a:srgbClr val="F4F3EF"/>
                </a:solidFill>
                <a:latin typeface="Inter"/>
                <a:ea typeface="Noto Sans CJK SC"/>
              </a:rPr>
              <a:t>一句话提问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FF5A36"/>
                </a:solidFill>
                <a:latin typeface="Inter"/>
              </a:rPr>
              <a:t>—  </a:t>
            </a:r>
            <a:r>
              <a:rPr sz="1800">
                <a:solidFill>
                  <a:srgbClr val="F4F3EF"/>
                </a:solidFill>
                <a:latin typeface="Inter"/>
                <a:ea typeface="Noto Sans CJK SC"/>
              </a:rPr>
              <a:t>3 秒得到答案</a:t>
            </a:r>
          </a:p>
          <a:p>
            <a:pPr>
              <a:lnSpc>
                <a:spcPct val="115000"/>
              </a:lnSpc>
              <a:spcAft>
                <a:spcPts val="990"/>
              </a:spcAft>
            </a:pPr>
            <a:r>
              <a:rPr sz="1800" b="1">
                <a:solidFill>
                  <a:srgbClr val="FF5A36"/>
                </a:solidFill>
                <a:latin typeface="Inter"/>
              </a:rPr>
              <a:t>—  </a:t>
            </a:r>
            <a:r>
              <a:rPr sz="1800">
                <a:solidFill>
                  <a:srgbClr val="F4F3EF"/>
                </a:solidFill>
                <a:latin typeface="Inter"/>
                <a:ea typeface="Noto Sans CJK SC"/>
              </a:rPr>
              <a:t>自动指向最新版</a:t>
            </a:r>
          </a:p>
        </p:txBody>
      </p:sp>
      <p:sp>
        <p:nvSpPr>
          <p:cNvPr id="9" name="PST_FOOTER_LABEL"/>
          <p:cNvSpPr txBox="1"/>
          <p:nvPr/>
        </p:nvSpPr>
        <p:spPr>
          <a:xfrm>
            <a:off x="731520" y="6400800"/>
            <a:ext cx="643719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Lumen · 示例</a:t>
            </a:r>
          </a:p>
        </p:txBody>
      </p:sp>
      <p:sp>
        <p:nvSpPr>
          <p:cNvPr id="10" name="PST_FOOTER_NUMBER"/>
          <p:cNvSpPr txBox="1"/>
          <p:nvPr/>
        </p:nvSpPr>
        <p:spPr>
          <a:xfrm>
            <a:off x="7168713" y="6400800"/>
            <a:ext cx="429146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DA1AB"/>
                </a:solidFill>
                <a:latin typeface="Inter"/>
                <a:ea typeface="Noto Sans CJK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ST_IMAGE" descr="crop_1492193653037716250_closing-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ST_TEXT"/>
          <p:cNvSpPr txBox="1"/>
          <p:nvPr/>
        </p:nvSpPr>
        <p:spPr>
          <a:xfrm>
            <a:off x="822960" y="4636008"/>
            <a:ext cx="7863840" cy="88010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Inter"/>
                <a:ea typeface="Noto Sans CJK SC"/>
              </a:rPr>
              <a:t>让知识从今天起可达</a:t>
            </a:r>
          </a:p>
        </p:txBody>
      </p:sp>
      <p:sp>
        <p:nvSpPr>
          <p:cNvPr id="5" name="PST_TEXT"/>
          <p:cNvSpPr txBox="1"/>
          <p:nvPr/>
        </p:nvSpPr>
        <p:spPr>
          <a:xfrm>
            <a:off x="822960" y="5772150"/>
            <a:ext cx="7863840" cy="35432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3D3D3"/>
                </a:solidFill>
                <a:latin typeface="Inter"/>
                <a:ea typeface="Noto Sans CJK SC"/>
              </a:rPr>
              <a:t>申请 50 人试点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产品介绍（示例 deck）</dc:title>
  <dc:subject>Lumen 让分散在不同系统里的团队知识，在可追溯的前提下三秒内被找到。</dc:subject>
  <dc:creator/>
  <cp:keywords/>
  <dc:description>Generated by product-story-pptx; edit the YAML spec and rebuild.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